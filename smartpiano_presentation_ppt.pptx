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6" r:id="rId6"/>
    <p:sldId id="270" r:id="rId7"/>
    <p:sldId id="260" r:id="rId8"/>
    <p:sldId id="267" r:id="rId9"/>
    <p:sldId id="268" r:id="rId10"/>
    <p:sldId id="261" r:id="rId11"/>
    <p:sldId id="265" r:id="rId12"/>
    <p:sldId id="271" r:id="rId13"/>
    <p:sldId id="272" r:id="rId14"/>
    <p:sldId id="263" r:id="rId15"/>
    <p:sldId id="26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1A31B-26A8-BDCE-50EA-58F839A7F049}" v="28" dt="2025-12-09T01:08:37.367"/>
    <p1510:client id="{2FC2E3BA-F559-1C8D-3758-D6D56A83F0C7}" v="192" dt="2025-12-09T00:50:41.724"/>
    <p1510:client id="{515F7E43-0C56-2CF5-4125-1BDC9C8EEDF1}" v="506" dt="2025-12-09T04:26:05.185"/>
    <p1510:client id="{96FB5475-9BC7-3641-134A-5F389D511A45}" v="28" dt="2025-12-09T03:43:53.621"/>
    <p1510:client id="{BA773E75-5C89-5F27-6ADA-1FC71BCC70C0}" v="3" dt="2025-12-09T05:29:39.459"/>
    <p1510:client id="{BC9E733D-395C-AC39-6EEF-A209D0BB6D41}" v="109" dt="2025-12-08T18:19:51.652"/>
    <p1510:client id="{EA7C60D8-1CF6-FA69-4B63-5743ADDFDE95}" v="964" dt="2025-12-08T19:21:56.4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509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BB376-B19C-488D-ABEB-03C7E6E9E3E0}" type="datetimeFigureOut">
              <a:rPr lang="en-US" dirty="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a:p>
        </p:txBody>
      </p:sp>
    </p:spTree>
    <p:extLst>
      <p:ext uri="{BB962C8B-B14F-4D97-AF65-F5344CB8AC3E}">
        <p14:creationId xmlns:p14="http://schemas.microsoft.com/office/powerpoint/2010/main" val="1444708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774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9E2A62-1983-43A1-A163-D8AA46534C80}" type="datetimeFigureOut">
              <a:rPr lang="en-US" dirty="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40430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8F3E3B-34E3-4345-B2A1-994B83598A9C}" type="datetimeFigureOut">
              <a:rPr lang="en-US" dirty="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197721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57352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12/10/2025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844221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12/10/2025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47348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45648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6E300-0A13-4A81-945A-7333C271A069}" type="datetimeFigureOut">
              <a:rPr lang="en-US" dirty="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879529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671962-1EA4-46E7-BCB0-F36CE46D1A59}" type="datetimeFigureOut">
              <a:rPr lang="en-US" dirty="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8558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12/10/2025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0055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C299B76-AFCC-64A5-757D-88DAD91DEB1B}"/>
              </a:ext>
            </a:extLst>
          </p:cNvPr>
          <p:cNvPicPr>
            <a:picLocks noChangeAspect="1"/>
          </p:cNvPicPr>
          <p:nvPr/>
        </p:nvPicPr>
        <p:blipFill>
          <a:blip r:embed="rId2"/>
          <a:srcRect r="-7243" b="-88"/>
          <a:stretch>
            <a:fillRect/>
          </a:stretch>
        </p:blipFill>
        <p:spPr>
          <a:xfrm>
            <a:off x="-75" y="-48"/>
            <a:ext cx="12447672" cy="6864055"/>
          </a:xfrm>
          <a:prstGeom prst="rect">
            <a:avLst/>
          </a:prstGeom>
        </p:spPr>
      </p:pic>
      <p:sp>
        <p:nvSpPr>
          <p:cNvPr id="2" name="標題 1"/>
          <p:cNvSpPr>
            <a:spLocks noGrp="1"/>
          </p:cNvSpPr>
          <p:nvPr>
            <p:ph type="ctrTitle" idx="4294967295"/>
          </p:nvPr>
        </p:nvSpPr>
        <p:spPr>
          <a:xfrm>
            <a:off x="7474857" y="522590"/>
            <a:ext cx="4130524" cy="2387600"/>
          </a:xfrm>
        </p:spPr>
        <p:txBody>
          <a:bodyPr/>
          <a:lstStyle/>
          <a:p>
            <a:r>
              <a:rPr lang="zh-TW" altLang="en-US">
                <a:latin typeface="Century Schoolbook"/>
                <a:ea typeface="新細明體"/>
              </a:rPr>
              <a:t>Smart Piano</a:t>
            </a:r>
            <a:endParaRPr lang="zh-TW" altLang="en-US">
              <a:latin typeface="Century Schoolbook"/>
            </a:endParaRPr>
          </a:p>
        </p:txBody>
      </p:sp>
      <p:sp>
        <p:nvSpPr>
          <p:cNvPr id="6" name="TextBox 5">
            <a:extLst>
              <a:ext uri="{FF2B5EF4-FFF2-40B4-BE49-F238E27FC236}">
                <a16:creationId xmlns:a16="http://schemas.microsoft.com/office/drawing/2014/main" id="{FD69FCAA-6337-1500-1C4B-CB4D3D309BF0}"/>
              </a:ext>
            </a:extLst>
          </p:cNvPr>
          <p:cNvSpPr txBox="1"/>
          <p:nvPr/>
        </p:nvSpPr>
        <p:spPr>
          <a:xfrm>
            <a:off x="274320" y="1085088"/>
            <a:ext cx="3011424"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a:latin typeface="Century Schoolbook"/>
              </a:rPr>
              <a:t>Lo Sek Kong 230154279</a:t>
            </a:r>
            <a:endParaRPr lang="en-US">
              <a:latin typeface="Century Schoolbook"/>
            </a:endParaRPr>
          </a:p>
        </p:txBody>
      </p:sp>
      <p:sp>
        <p:nvSpPr>
          <p:cNvPr id="7" name="TextBox 6">
            <a:extLst>
              <a:ext uri="{FF2B5EF4-FFF2-40B4-BE49-F238E27FC236}">
                <a16:creationId xmlns:a16="http://schemas.microsoft.com/office/drawing/2014/main" id="{43E3966E-0911-FA6B-0CA6-5C0ED58C1A41}"/>
              </a:ext>
            </a:extLst>
          </p:cNvPr>
          <p:cNvSpPr txBox="1"/>
          <p:nvPr/>
        </p:nvSpPr>
        <p:spPr>
          <a:xfrm>
            <a:off x="274320" y="2206752"/>
            <a:ext cx="3285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entury Schoolbook"/>
              </a:rPr>
              <a:t>Pang Wang Chun 230088026</a:t>
            </a:r>
          </a:p>
        </p:txBody>
      </p:sp>
      <p:sp>
        <p:nvSpPr>
          <p:cNvPr id="8" name="TextBox 7">
            <a:extLst>
              <a:ext uri="{FF2B5EF4-FFF2-40B4-BE49-F238E27FC236}">
                <a16:creationId xmlns:a16="http://schemas.microsoft.com/office/drawing/2014/main" id="{182DD8FE-7A01-51BF-8A79-A0673272FA9B}"/>
              </a:ext>
            </a:extLst>
          </p:cNvPr>
          <p:cNvSpPr txBox="1"/>
          <p:nvPr/>
        </p:nvSpPr>
        <p:spPr>
          <a:xfrm>
            <a:off x="274320" y="3560064"/>
            <a:ext cx="3474720"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900">
                <a:latin typeface="Century Schoolbook"/>
                <a:ea typeface="新細明體"/>
              </a:rPr>
              <a:t>Chow</a:t>
            </a:r>
            <a:r>
              <a:rPr lang="zh-TW" altLang="en-US" sz="1900">
                <a:latin typeface="Century Schoolbook"/>
                <a:ea typeface="新細明體"/>
              </a:rPr>
              <a:t> </a:t>
            </a:r>
            <a:r>
              <a:rPr lang="en-US" altLang="zh-TW" sz="1900">
                <a:latin typeface="Century Schoolbook"/>
                <a:ea typeface="新細明體"/>
              </a:rPr>
              <a:t>Ho</a:t>
            </a:r>
            <a:r>
              <a:rPr lang="zh-TW" altLang="en-US" sz="1900">
                <a:latin typeface="Century Schoolbook"/>
                <a:ea typeface="新細明體"/>
              </a:rPr>
              <a:t> </a:t>
            </a:r>
            <a:r>
              <a:rPr lang="en-US" altLang="zh-TW" sz="1900">
                <a:latin typeface="Century Schoolbook"/>
                <a:ea typeface="新細明體"/>
              </a:rPr>
              <a:t>Yeung</a:t>
            </a:r>
            <a:r>
              <a:rPr lang="zh-TW" altLang="en-US" sz="1900">
                <a:latin typeface="Century Schoolbook"/>
                <a:ea typeface="新細明體"/>
              </a:rPr>
              <a:t> </a:t>
            </a:r>
            <a:r>
              <a:rPr lang="en-US" altLang="zh-TW" sz="1900">
                <a:latin typeface="Century Schoolbook"/>
                <a:ea typeface="新細明體"/>
              </a:rPr>
              <a:t>250589584</a:t>
            </a:r>
            <a:endParaRPr lang="en-US" sz="1900">
              <a:latin typeface="Century Schoolbook"/>
              <a:ea typeface="新細明體"/>
            </a:endParaRPr>
          </a:p>
          <a:p>
            <a:pPr algn="l"/>
            <a:endParaRPr lang="en-US"/>
          </a:p>
        </p:txBody>
      </p:sp>
      <p:sp>
        <p:nvSpPr>
          <p:cNvPr id="9" name="TextBox 8">
            <a:extLst>
              <a:ext uri="{FF2B5EF4-FFF2-40B4-BE49-F238E27FC236}">
                <a16:creationId xmlns:a16="http://schemas.microsoft.com/office/drawing/2014/main" id="{308CDF3C-A7C8-83C3-57C3-C6B4D177138B}"/>
              </a:ext>
            </a:extLst>
          </p:cNvPr>
          <p:cNvSpPr txBox="1"/>
          <p:nvPr/>
        </p:nvSpPr>
        <p:spPr>
          <a:xfrm>
            <a:off x="274320" y="4456176"/>
            <a:ext cx="3096768"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900">
                <a:latin typeface="Century Schoolbook"/>
                <a:ea typeface="新細明體"/>
              </a:rPr>
              <a:t>Li</a:t>
            </a:r>
            <a:r>
              <a:rPr lang="zh-TW" altLang="en-US" sz="1900">
                <a:latin typeface="Century Schoolbook"/>
                <a:ea typeface="新細明體"/>
              </a:rPr>
              <a:t> </a:t>
            </a:r>
            <a:r>
              <a:rPr lang="en-US" altLang="zh-TW" sz="1900">
                <a:latin typeface="Century Schoolbook"/>
                <a:ea typeface="新細明體"/>
              </a:rPr>
              <a:t>Wan</a:t>
            </a:r>
            <a:r>
              <a:rPr lang="zh-TW" altLang="en-US" sz="1900">
                <a:latin typeface="Century Schoolbook"/>
                <a:ea typeface="新細明體"/>
              </a:rPr>
              <a:t> </a:t>
            </a:r>
            <a:r>
              <a:rPr lang="en-US" altLang="zh-TW" sz="1900">
                <a:latin typeface="Century Schoolbook"/>
                <a:ea typeface="新細明體"/>
              </a:rPr>
              <a:t>Yeung</a:t>
            </a:r>
            <a:r>
              <a:rPr lang="zh-TW" altLang="en-US" sz="1900">
                <a:latin typeface="Century Schoolbook"/>
                <a:ea typeface="新細明體"/>
              </a:rPr>
              <a:t> </a:t>
            </a:r>
            <a:r>
              <a:rPr lang="en-US" altLang="zh-TW" sz="1900">
                <a:latin typeface="Century Schoolbook"/>
                <a:ea typeface="新細明體"/>
              </a:rPr>
              <a:t>250276094</a:t>
            </a:r>
            <a:endParaRPr lang="en-US" sz="1900">
              <a:latin typeface="Century Schoolbook"/>
              <a:ea typeface="新細明體"/>
            </a:endParaRPr>
          </a:p>
        </p:txBody>
      </p:sp>
      <p:sp>
        <p:nvSpPr>
          <p:cNvPr id="10" name="TextBox 9">
            <a:extLst>
              <a:ext uri="{FF2B5EF4-FFF2-40B4-BE49-F238E27FC236}">
                <a16:creationId xmlns:a16="http://schemas.microsoft.com/office/drawing/2014/main" id="{AF095809-19BF-241F-CBE1-C406A1E2A011}"/>
              </a:ext>
            </a:extLst>
          </p:cNvPr>
          <p:cNvSpPr txBox="1"/>
          <p:nvPr/>
        </p:nvSpPr>
        <p:spPr>
          <a:xfrm>
            <a:off x="274320" y="5486399"/>
            <a:ext cx="3261360"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a:latin typeface="Century Schoolbook"/>
              </a:rPr>
              <a:t>Cheung Yat Yan 250543742</a:t>
            </a:r>
            <a:endParaRPr lang="en-US">
              <a:latin typeface="Century Schoolbook"/>
            </a:endParaRPr>
          </a:p>
        </p:txBody>
      </p:sp>
    </p:spTree>
    <p:extLst>
      <p:ext uri="{BB962C8B-B14F-4D97-AF65-F5344CB8AC3E}">
        <p14:creationId xmlns:p14="http://schemas.microsoft.com/office/powerpoint/2010/main" val="2592129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3F1026-B4BB-E902-2ED4-214453C1AB58}"/>
              </a:ext>
            </a:extLst>
          </p:cNvPr>
          <p:cNvSpPr>
            <a:spLocks noGrp="1"/>
          </p:cNvSpPr>
          <p:nvPr>
            <p:ph type="title"/>
          </p:nvPr>
        </p:nvSpPr>
        <p:spPr/>
        <p:txBody>
          <a:bodyPr/>
          <a:lstStyle/>
          <a:p>
            <a:r>
              <a:rPr lang="zh-TW" altLang="en-US">
                <a:latin typeface="Century Schoolbook"/>
                <a:ea typeface="新細明體"/>
              </a:rPr>
              <a:t>Background </a:t>
            </a:r>
          </a:p>
        </p:txBody>
      </p:sp>
      <p:sp>
        <p:nvSpPr>
          <p:cNvPr id="3" name="內容版面配置區 2">
            <a:extLst>
              <a:ext uri="{FF2B5EF4-FFF2-40B4-BE49-F238E27FC236}">
                <a16:creationId xmlns:a16="http://schemas.microsoft.com/office/drawing/2014/main" id="{F0F46153-87E8-5C30-A806-E4E062A20A66}"/>
              </a:ext>
            </a:extLst>
          </p:cNvPr>
          <p:cNvSpPr>
            <a:spLocks noGrp="1"/>
          </p:cNvSpPr>
          <p:nvPr>
            <p:ph idx="1"/>
          </p:nvPr>
        </p:nvSpPr>
        <p:spPr>
          <a:xfrm>
            <a:off x="1097280" y="2015067"/>
            <a:ext cx="10058400" cy="4023360"/>
          </a:xfrm>
        </p:spPr>
        <p:txBody>
          <a:bodyPr vert="horz" lIns="91440" tIns="45720" rIns="91440" bIns="45720" rtlCol="0" anchor="t">
            <a:normAutofit/>
          </a:bodyPr>
          <a:lstStyle/>
          <a:p>
            <a:pPr>
              <a:buChar char="-"/>
            </a:pPr>
            <a:r>
              <a:rPr lang="zh-TW" altLang="en-US" sz="2400" b="1">
                <a:latin typeface="Century Schoolbook"/>
                <a:ea typeface="新細明體"/>
              </a:rPr>
              <a:t> More and more people want to learn music, but too expensive to buy a piano, and it needs lots of spaces to place the piano at home. </a:t>
            </a:r>
            <a:endParaRPr lang="en-US" sz="2400">
              <a:latin typeface="Century Schoolbook"/>
            </a:endParaRPr>
          </a:p>
          <a:p>
            <a:pPr>
              <a:buChar char="-"/>
            </a:pPr>
            <a:endParaRPr lang="zh-TW" altLang="en-US" sz="2400" b="1">
              <a:latin typeface="Century Schoolbook"/>
              <a:ea typeface="新細明體"/>
              <a:cs typeface="Calibri" panose="020F0502020204030204"/>
            </a:endParaRPr>
          </a:p>
          <a:p>
            <a:pPr>
              <a:buChar char="-"/>
            </a:pPr>
            <a:r>
              <a:rPr lang="zh-TW" altLang="en-US" sz="2400" b="1">
                <a:latin typeface="Century Schoolbook"/>
                <a:ea typeface="新細明體"/>
              </a:rPr>
              <a:t> Too expensive for lessons to learn to play piano. </a:t>
            </a:r>
            <a:endParaRPr lang="zh-TW" altLang="en-US" sz="2400" b="1">
              <a:latin typeface="Century Schoolbook"/>
              <a:ea typeface="新細明體"/>
              <a:cs typeface="Calibri" panose="020F0502020204030204"/>
            </a:endParaRPr>
          </a:p>
        </p:txBody>
      </p:sp>
    </p:spTree>
    <p:extLst>
      <p:ext uri="{BB962C8B-B14F-4D97-AF65-F5344CB8AC3E}">
        <p14:creationId xmlns:p14="http://schemas.microsoft.com/office/powerpoint/2010/main" val="1166766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252726-AA01-F8FE-1E96-6EABFD948CB9}"/>
              </a:ext>
            </a:extLst>
          </p:cNvPr>
          <p:cNvSpPr>
            <a:spLocks noGrp="1"/>
          </p:cNvSpPr>
          <p:nvPr>
            <p:ph type="title"/>
          </p:nvPr>
        </p:nvSpPr>
        <p:spPr/>
        <p:txBody>
          <a:bodyPr/>
          <a:lstStyle/>
          <a:p>
            <a:r>
              <a:rPr lang="zh-TW" altLang="en-US">
                <a:latin typeface="Century Schoolbook"/>
                <a:ea typeface="新細明體"/>
              </a:rPr>
              <a:t>The real-world question to solve </a:t>
            </a:r>
            <a:endParaRPr lang="zh-TW" altLang="en-US">
              <a:latin typeface="Century Schoolbook"/>
            </a:endParaRPr>
          </a:p>
        </p:txBody>
      </p:sp>
      <p:sp>
        <p:nvSpPr>
          <p:cNvPr id="3" name="內容版面配置區 2">
            <a:extLst>
              <a:ext uri="{FF2B5EF4-FFF2-40B4-BE49-F238E27FC236}">
                <a16:creationId xmlns:a16="http://schemas.microsoft.com/office/drawing/2014/main" id="{78AE2FAA-D5E6-15A8-4669-1AE7B9B00484}"/>
              </a:ext>
            </a:extLst>
          </p:cNvPr>
          <p:cNvSpPr>
            <a:spLocks noGrp="1"/>
          </p:cNvSpPr>
          <p:nvPr>
            <p:ph idx="1"/>
          </p:nvPr>
        </p:nvSpPr>
        <p:spPr>
          <a:xfrm>
            <a:off x="1097280" y="1967654"/>
            <a:ext cx="10058400" cy="4023360"/>
          </a:xfrm>
        </p:spPr>
        <p:txBody>
          <a:bodyPr vert="horz" lIns="91440" tIns="45720" rIns="91440" bIns="45720" rtlCol="0" anchor="t">
            <a:normAutofit/>
          </a:bodyPr>
          <a:lstStyle/>
          <a:p>
            <a:pPr>
              <a:buChar char="-"/>
            </a:pPr>
            <a:r>
              <a:rPr lang="zh-TW" altLang="en-US" b="1">
                <a:latin typeface="Century Schoolbook"/>
                <a:ea typeface="新細明體"/>
              </a:rPr>
              <a:t> Don't know where to start when self learning, as there are no person to tutor </a:t>
            </a:r>
            <a:endParaRPr lang="zh-TW" altLang="en-US" b="1">
              <a:latin typeface="Century Schoolbook"/>
              <a:ea typeface="新細明體" panose="02020500000000000000" pitchFamily="18" charset="-120"/>
            </a:endParaRPr>
          </a:p>
          <a:p>
            <a:pPr>
              <a:buChar char="-"/>
            </a:pPr>
            <a:endParaRPr lang="zh-TW" altLang="en-US" b="1">
              <a:latin typeface="Century Schoolbook"/>
              <a:ea typeface="新細明體"/>
            </a:endParaRPr>
          </a:p>
          <a:p>
            <a:pPr>
              <a:buChar char="-"/>
            </a:pPr>
            <a:r>
              <a:rPr lang="zh-TW" altLang="en-US" b="1">
                <a:latin typeface="Century Schoolbook"/>
                <a:ea typeface="新細明體"/>
              </a:rPr>
              <a:t> Lack of visual rhythm assistance tools, users are hard to distinguish they plays correct or not</a:t>
            </a:r>
          </a:p>
          <a:p>
            <a:pPr>
              <a:buChar char="-"/>
            </a:pPr>
            <a:endParaRPr lang="zh-TW" altLang="en-US" b="1">
              <a:latin typeface="Century Schoolbook"/>
              <a:ea typeface="新細明體"/>
            </a:endParaRPr>
          </a:p>
          <a:p>
            <a:pPr>
              <a:buChar char="-"/>
            </a:pPr>
            <a:r>
              <a:rPr lang="zh-TW" altLang="en-US" b="1">
                <a:latin typeface="Century Schoolbook"/>
                <a:ea typeface="新細明體"/>
              </a:rPr>
              <a:t> Lack of practice records and review mechanisms to know the process of learning </a:t>
            </a:r>
          </a:p>
        </p:txBody>
      </p:sp>
    </p:spTree>
    <p:extLst>
      <p:ext uri="{BB962C8B-B14F-4D97-AF65-F5344CB8AC3E}">
        <p14:creationId xmlns:p14="http://schemas.microsoft.com/office/powerpoint/2010/main" val="3779753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9E7CE9-03D4-8D56-59EA-92C8C7D9F8F7}"/>
              </a:ext>
            </a:extLst>
          </p:cNvPr>
          <p:cNvSpPr>
            <a:spLocks noGrp="1"/>
          </p:cNvSpPr>
          <p:nvPr>
            <p:ph type="title"/>
          </p:nvPr>
        </p:nvSpPr>
        <p:spPr/>
        <p:txBody>
          <a:bodyPr/>
          <a:lstStyle/>
          <a:p>
            <a:r>
              <a:rPr lang="zh-TW" altLang="en-US">
                <a:latin typeface="Century Schoolbook"/>
                <a:ea typeface="新細明體"/>
              </a:rPr>
              <a:t>Research</a:t>
            </a:r>
            <a:endParaRPr lang="zh-TW" altLang="en-US">
              <a:latin typeface="Century Schoolbook"/>
            </a:endParaRPr>
          </a:p>
        </p:txBody>
      </p:sp>
      <p:sp>
        <p:nvSpPr>
          <p:cNvPr id="3" name="內容版面配置區 2">
            <a:extLst>
              <a:ext uri="{FF2B5EF4-FFF2-40B4-BE49-F238E27FC236}">
                <a16:creationId xmlns:a16="http://schemas.microsoft.com/office/drawing/2014/main" id="{608F684D-CEBE-ED9A-B01A-EBC5679A8275}"/>
              </a:ext>
            </a:extLst>
          </p:cNvPr>
          <p:cNvSpPr>
            <a:spLocks noGrp="1"/>
          </p:cNvSpPr>
          <p:nvPr>
            <p:ph idx="1"/>
          </p:nvPr>
        </p:nvSpPr>
        <p:spPr>
          <a:xfrm>
            <a:off x="838200" y="1966740"/>
            <a:ext cx="10515600" cy="4766974"/>
          </a:xfrm>
        </p:spPr>
        <p:txBody>
          <a:bodyPr vert="horz" lIns="91440" tIns="45720" rIns="91440" bIns="45720" rtlCol="0" anchor="t">
            <a:normAutofit/>
          </a:bodyPr>
          <a:lstStyle/>
          <a:p>
            <a:pPr>
              <a:buChar char="-"/>
            </a:pPr>
            <a:r>
              <a:rPr lang="zh-TW" altLang="en-US" b="1">
                <a:latin typeface="Century Schoolbook"/>
                <a:ea typeface="新細明體"/>
              </a:rPr>
              <a:t> Hard to reading both clefs simultaneously</a:t>
            </a:r>
            <a:endParaRPr lang="en-US">
              <a:latin typeface="Century Schoolbook"/>
            </a:endParaRPr>
          </a:p>
          <a:p>
            <a:pPr>
              <a:buNone/>
            </a:pPr>
            <a:r>
              <a:rPr lang="en-US" sz="2000">
                <a:latin typeface="Century Schoolbook"/>
                <a:ea typeface="+mn-lt"/>
                <a:cs typeface="+mn-lt"/>
              </a:rPr>
              <a:t> "I can read treble clef okay, and bass clef separately. But when I have to read both at the same time while playing, it's like trying to read two different books at once. My eyes jump back and forth and I lose my place constantly."</a:t>
            </a:r>
            <a:endParaRPr lang="en-US" sz="2000">
              <a:latin typeface="Century Schoolbook"/>
            </a:endParaRPr>
          </a:p>
          <a:p>
            <a:pPr>
              <a:buNone/>
            </a:pPr>
            <a:r>
              <a:rPr lang="en-US" sz="1200" b="1">
                <a:latin typeface="Century Schoolbook"/>
                <a:ea typeface="新細明體"/>
              </a:rPr>
              <a:t>Source:</a:t>
            </a:r>
            <a:endParaRPr lang="en-US">
              <a:latin typeface="Century Schoolbook"/>
              <a:ea typeface="新細明體"/>
            </a:endParaRPr>
          </a:p>
          <a:p>
            <a:pPr>
              <a:buFont typeface="Calibri"/>
              <a:buChar char="-"/>
            </a:pPr>
            <a:r>
              <a:rPr lang="en-US" sz="1200">
                <a:latin typeface="Century Schoolbook"/>
                <a:ea typeface="新細明體"/>
                <a:cs typeface="Arial"/>
              </a:rPr>
              <a:t>Reddit r/piano, User: "NewPianoPlayer2022", January 2023</a:t>
            </a:r>
          </a:p>
          <a:p>
            <a:pPr>
              <a:buChar char="-"/>
            </a:pPr>
            <a:r>
              <a:rPr lang="zh-TW" altLang="en-US" b="1">
                <a:latin typeface="Century Schoolbook"/>
                <a:ea typeface="新細明體"/>
              </a:rPr>
              <a:t> Beginners are hard to keep the beat and timing</a:t>
            </a:r>
          </a:p>
          <a:p>
            <a:pPr>
              <a:buNone/>
            </a:pPr>
            <a:r>
              <a:rPr lang="en-US" sz="2000">
                <a:latin typeface="Century Schoolbook"/>
                <a:ea typeface="+mn-lt"/>
                <a:cs typeface="+mn-lt"/>
              </a:rPr>
              <a:t>"Beginning piano students often struggle with maintaining consistent tempo, particularly when shifting attention </a:t>
            </a:r>
            <a:r>
              <a:rPr lang="en-US" altLang="zh-TW" sz="2000">
                <a:latin typeface="Century Schoolbook"/>
                <a:ea typeface="+mn-lt"/>
                <a:cs typeface="+mn-lt"/>
              </a:rPr>
              <a:t>between</a:t>
            </a:r>
            <a:r>
              <a:rPr lang="en-US" sz="2000">
                <a:latin typeface="Century Schoolbook"/>
                <a:ea typeface="+mn-lt"/>
                <a:cs typeface="+mn-lt"/>
              </a:rPr>
              <a:t> </a:t>
            </a:r>
            <a:r>
              <a:rPr lang="en-US" altLang="zh-TW" sz="2000">
                <a:latin typeface="Century Schoolbook"/>
                <a:ea typeface="+mn-lt"/>
                <a:cs typeface="+mn-lt"/>
              </a:rPr>
              <a:t>hands</a:t>
            </a:r>
            <a:r>
              <a:rPr lang="en-US" sz="2000">
                <a:latin typeface="Century Schoolbook"/>
                <a:ea typeface="+mn-lt"/>
                <a:cs typeface="+mn-lt"/>
              </a:rPr>
              <a:t>.</a:t>
            </a:r>
            <a:r>
              <a:rPr lang="en-US" altLang="zh-TW" sz="2000">
                <a:latin typeface="Century Schoolbook"/>
                <a:ea typeface="+mn-lt"/>
                <a:cs typeface="+mn-lt"/>
              </a:rPr>
              <a:t> </a:t>
            </a:r>
            <a:r>
              <a:rPr lang="en-US" sz="2000">
                <a:latin typeface="Century Schoolbook"/>
                <a:ea typeface="+mn-lt"/>
                <a:cs typeface="+mn-lt"/>
              </a:rPr>
              <a:t>The cognitive load</a:t>
            </a:r>
            <a:r>
              <a:rPr lang="en-US" altLang="zh-TW" sz="2000">
                <a:latin typeface="Century Schoolbook"/>
                <a:ea typeface="+mn-lt"/>
                <a:cs typeface="+mn-lt"/>
              </a:rPr>
              <a:t> </a:t>
            </a:r>
            <a:r>
              <a:rPr lang="en-US" sz="2000">
                <a:latin typeface="Century Schoolbook"/>
                <a:ea typeface="+mn-lt"/>
                <a:cs typeface="+mn-lt"/>
              </a:rPr>
              <a:t>of reading notation</a:t>
            </a:r>
            <a:r>
              <a:rPr lang="en-US" altLang="zh-TW" sz="2000">
                <a:latin typeface="Century Schoolbook"/>
                <a:ea typeface="+mn-lt"/>
                <a:cs typeface="+mn-lt"/>
              </a:rPr>
              <a:t> while</a:t>
            </a:r>
            <a:r>
              <a:rPr lang="en-US" sz="2000">
                <a:latin typeface="Century Schoolbook"/>
                <a:ea typeface="+mn-lt"/>
                <a:cs typeface="+mn-lt"/>
              </a:rPr>
              <a:t> executing motor commands disrupts</a:t>
            </a:r>
            <a:r>
              <a:rPr lang="en-US" altLang="zh-TW" sz="2000">
                <a:latin typeface="Century Schoolbook"/>
                <a:ea typeface="+mn-lt"/>
                <a:cs typeface="+mn-lt"/>
              </a:rPr>
              <a:t> </a:t>
            </a:r>
            <a:r>
              <a:rPr lang="en-US" sz="2000">
                <a:latin typeface="Century Schoolbook"/>
                <a:ea typeface="+mn-lt"/>
                <a:cs typeface="+mn-lt"/>
              </a:rPr>
              <a:t>internal timing mechanisms."</a:t>
            </a:r>
            <a:endParaRPr lang="en-US" sz="2000">
              <a:latin typeface="Century Schoolbook"/>
            </a:endParaRPr>
          </a:p>
          <a:p>
            <a:pPr>
              <a:buNone/>
            </a:pPr>
            <a:r>
              <a:rPr lang="en-US" altLang="zh-TW" sz="1200" b="1">
                <a:latin typeface="Century Schoolbook"/>
                <a:ea typeface="新細明體"/>
              </a:rPr>
              <a:t>Source:</a:t>
            </a:r>
            <a:endParaRPr lang="zh-TW" altLang="en-US" sz="1200">
              <a:latin typeface="Century Schoolbook"/>
              <a:ea typeface="新細明體"/>
            </a:endParaRPr>
          </a:p>
          <a:p>
            <a:pPr>
              <a:buFont typeface="Calibri"/>
              <a:buChar char="-"/>
            </a:pPr>
            <a:r>
              <a:rPr lang="en-US" altLang="zh-TW" sz="1200">
                <a:latin typeface="Century Schoolbook"/>
                <a:ea typeface="新細明體"/>
                <a:cs typeface="Arial"/>
              </a:rPr>
              <a:t>"The</a:t>
            </a:r>
            <a:r>
              <a:rPr lang="zh-TW" altLang="en-US" sz="1200">
                <a:latin typeface="Century Schoolbook"/>
                <a:ea typeface="新細明體"/>
                <a:cs typeface="Arial"/>
              </a:rPr>
              <a:t> </a:t>
            </a:r>
            <a:r>
              <a:rPr lang="en-US" altLang="zh-TW" sz="1200">
                <a:latin typeface="Century Schoolbook"/>
                <a:ea typeface="新細明體"/>
                <a:cs typeface="Arial"/>
              </a:rPr>
              <a:t>Psychology</a:t>
            </a:r>
            <a:r>
              <a:rPr lang="zh-TW" altLang="en-US" sz="1200">
                <a:latin typeface="Century Schoolbook"/>
                <a:ea typeface="新細明體"/>
                <a:cs typeface="Arial"/>
              </a:rPr>
              <a:t> </a:t>
            </a:r>
            <a:r>
              <a:rPr lang="en-US" altLang="zh-TW" sz="1200">
                <a:latin typeface="Century Schoolbook"/>
                <a:ea typeface="新細明體"/>
                <a:cs typeface="Arial"/>
              </a:rPr>
              <a:t>of</a:t>
            </a:r>
            <a:r>
              <a:rPr lang="zh-TW" altLang="en-US" sz="1200">
                <a:latin typeface="Century Schoolbook"/>
                <a:ea typeface="新細明體"/>
                <a:cs typeface="Arial"/>
              </a:rPr>
              <a:t> </a:t>
            </a:r>
            <a:r>
              <a:rPr lang="en-US" altLang="zh-TW" sz="1200">
                <a:latin typeface="Century Schoolbook"/>
                <a:ea typeface="新細明體"/>
                <a:cs typeface="Arial"/>
              </a:rPr>
              <a:t>Music"</a:t>
            </a:r>
            <a:r>
              <a:rPr lang="zh-TW" altLang="en-US" sz="1200">
                <a:latin typeface="Century Schoolbook"/>
                <a:ea typeface="新細明體"/>
                <a:cs typeface="Arial"/>
              </a:rPr>
              <a:t> </a:t>
            </a:r>
            <a:r>
              <a:rPr lang="en-US" altLang="zh-TW" sz="1200">
                <a:latin typeface="Century Schoolbook"/>
                <a:ea typeface="新細明體"/>
                <a:cs typeface="Arial"/>
              </a:rPr>
              <a:t>(3rd</a:t>
            </a:r>
            <a:r>
              <a:rPr lang="zh-TW" altLang="en-US" sz="1200">
                <a:latin typeface="Century Schoolbook"/>
                <a:ea typeface="新細明體"/>
                <a:cs typeface="Arial"/>
              </a:rPr>
              <a:t> </a:t>
            </a:r>
            <a:r>
              <a:rPr lang="en-US" altLang="zh-TW" sz="1200">
                <a:latin typeface="Century Schoolbook"/>
                <a:ea typeface="新細明體"/>
                <a:cs typeface="Arial"/>
              </a:rPr>
              <a:t>Edition)</a:t>
            </a:r>
            <a:r>
              <a:rPr lang="zh-TW" altLang="en-US" sz="1200">
                <a:latin typeface="Century Schoolbook"/>
                <a:ea typeface="新細明體"/>
                <a:cs typeface="Arial"/>
              </a:rPr>
              <a:t> </a:t>
            </a:r>
            <a:r>
              <a:rPr lang="en-US" altLang="zh-TW" sz="1200">
                <a:latin typeface="Century Schoolbook"/>
                <a:ea typeface="新細明體"/>
                <a:cs typeface="Arial"/>
              </a:rPr>
              <a:t>by</a:t>
            </a:r>
            <a:r>
              <a:rPr lang="zh-TW" altLang="en-US" sz="1200">
                <a:latin typeface="Century Schoolbook"/>
                <a:ea typeface="新細明體"/>
                <a:cs typeface="Arial"/>
              </a:rPr>
              <a:t> </a:t>
            </a:r>
            <a:r>
              <a:rPr lang="en-US" altLang="zh-TW" sz="1200">
                <a:latin typeface="Century Schoolbook"/>
                <a:ea typeface="新細明體"/>
                <a:cs typeface="Arial"/>
              </a:rPr>
              <a:t>Diana</a:t>
            </a:r>
            <a:r>
              <a:rPr lang="zh-TW" altLang="en-US" sz="1200">
                <a:latin typeface="Century Schoolbook"/>
                <a:ea typeface="新細明體"/>
                <a:cs typeface="Arial"/>
              </a:rPr>
              <a:t> </a:t>
            </a:r>
            <a:r>
              <a:rPr lang="en-US" altLang="zh-TW" sz="1200">
                <a:latin typeface="Century Schoolbook"/>
                <a:ea typeface="新細明體"/>
                <a:cs typeface="Arial"/>
              </a:rPr>
              <a:t>Deutsch</a:t>
            </a:r>
            <a:br>
              <a:rPr lang="zh-TW" altLang="en-US" sz="1200">
                <a:latin typeface="Arial"/>
                <a:ea typeface="新細明體"/>
                <a:cs typeface="Arial"/>
              </a:rPr>
            </a:br>
            <a:endParaRPr lang="en-US" altLang="zh-TW" sz="1200">
              <a:ea typeface="新細明體"/>
              <a:cs typeface="Calibri" panose="020F0502020204030204"/>
            </a:endParaRPr>
          </a:p>
          <a:p>
            <a:pPr>
              <a:buChar char="-"/>
            </a:pPr>
            <a:endParaRPr lang="zh-TW" altLang="en-US" b="1">
              <a:ea typeface="新細明體"/>
              <a:cs typeface="Calibri" panose="020F0502020204030204"/>
            </a:endParaRPr>
          </a:p>
          <a:p>
            <a:pPr>
              <a:buChar char="-"/>
            </a:pPr>
            <a:endParaRPr lang="zh-TW" altLang="en-US" b="1">
              <a:ea typeface="新細明體"/>
              <a:cs typeface="Calibri" panose="020F0502020204030204"/>
            </a:endParaRPr>
          </a:p>
        </p:txBody>
      </p:sp>
    </p:spTree>
    <p:extLst>
      <p:ext uri="{BB962C8B-B14F-4D97-AF65-F5344CB8AC3E}">
        <p14:creationId xmlns:p14="http://schemas.microsoft.com/office/powerpoint/2010/main" val="2888050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65D5-A661-0F89-842A-5CF502A51A29}"/>
              </a:ext>
            </a:extLst>
          </p:cNvPr>
          <p:cNvSpPr>
            <a:spLocks noGrp="1"/>
          </p:cNvSpPr>
          <p:nvPr>
            <p:ph type="title"/>
          </p:nvPr>
        </p:nvSpPr>
        <p:spPr/>
        <p:txBody>
          <a:bodyPr/>
          <a:lstStyle/>
          <a:p>
            <a:r>
              <a:rPr lang="en-US">
                <a:latin typeface="Century Schoolbook"/>
              </a:rPr>
              <a:t>Solution of real-world question</a:t>
            </a:r>
          </a:p>
        </p:txBody>
      </p:sp>
      <p:sp>
        <p:nvSpPr>
          <p:cNvPr id="3" name="Content Placeholder 2">
            <a:extLst>
              <a:ext uri="{FF2B5EF4-FFF2-40B4-BE49-F238E27FC236}">
                <a16:creationId xmlns:a16="http://schemas.microsoft.com/office/drawing/2014/main" id="{ADE2B8CD-586C-F8C9-DF93-047545CCAA50}"/>
              </a:ext>
            </a:extLst>
          </p:cNvPr>
          <p:cNvSpPr>
            <a:spLocks noGrp="1"/>
          </p:cNvSpPr>
          <p:nvPr>
            <p:ph idx="1"/>
          </p:nvPr>
        </p:nvSpPr>
        <p:spPr>
          <a:xfrm>
            <a:off x="838200" y="1956765"/>
            <a:ext cx="10515600" cy="4351338"/>
          </a:xfrm>
        </p:spPr>
        <p:txBody>
          <a:bodyPr vert="horz" lIns="91440" tIns="45720" rIns="91440" bIns="45720" rtlCol="0" anchor="t">
            <a:normAutofit/>
          </a:bodyPr>
          <a:lstStyle/>
          <a:p>
            <a:pPr marL="0" indent="0"/>
            <a:r>
              <a:rPr lang="en-US" b="1">
                <a:latin typeface="Century Schoolbook"/>
              </a:rPr>
              <a:t>Lights on top the keys</a:t>
            </a:r>
            <a:endParaRPr lang="en-US">
              <a:ea typeface="Calibri" panose="020F0502020204030204"/>
              <a:cs typeface="Calibri" panose="020F0502020204030204"/>
            </a:endParaRPr>
          </a:p>
          <a:p>
            <a:pPr marL="0" indent="0">
              <a:buNone/>
            </a:pPr>
            <a:r>
              <a:rPr lang="en-US" sz="2000">
                <a:latin typeface="Century Schoolbook"/>
              </a:rPr>
              <a:t>It helps users to know which key they should press to follow up the songs of the tutorial, to improve the accuracy of practices.</a:t>
            </a:r>
            <a:endParaRPr lang="en-US" sz="2000" b="1">
              <a:latin typeface="Century Schoolbook"/>
            </a:endParaRPr>
          </a:p>
          <a:p>
            <a:r>
              <a:rPr lang="en-US" b="1">
                <a:latin typeface="Century Schoolbook"/>
              </a:rPr>
              <a:t>Metronome</a:t>
            </a:r>
            <a:endParaRPr lang="en-US" b="1">
              <a:latin typeface="Century Schoolbook"/>
              <a:ea typeface="Calibri"/>
              <a:cs typeface="Calibri"/>
            </a:endParaRPr>
          </a:p>
          <a:p>
            <a:pPr marL="0" indent="0">
              <a:buNone/>
            </a:pPr>
            <a:r>
              <a:rPr lang="en-US" sz="2000">
                <a:latin typeface="Century Schoolbook"/>
              </a:rPr>
              <a:t>Metronome can help users to follow the correct beat of the songs in the tutorial, it shows the beat by sound and the screen of the mobile app, easier for users to practice songs in correct rhythm.</a:t>
            </a:r>
            <a:endParaRPr lang="en-US" b="1">
              <a:latin typeface="Century Schoolbook"/>
            </a:endParaRPr>
          </a:p>
          <a:p>
            <a:r>
              <a:rPr lang="en-US" b="1">
                <a:latin typeface="Century Schoolbook"/>
              </a:rPr>
              <a:t>Recording</a:t>
            </a:r>
            <a:endParaRPr lang="en-US" b="1">
              <a:latin typeface="Century Schoolbook"/>
              <a:ea typeface="Calibri"/>
              <a:cs typeface="Calibri"/>
            </a:endParaRPr>
          </a:p>
          <a:p>
            <a:pPr marL="0" indent="0">
              <a:buNone/>
            </a:pPr>
            <a:r>
              <a:rPr lang="en-US" sz="2000">
                <a:latin typeface="Century Schoolbook"/>
              </a:rPr>
              <a:t>The recording function can let users easier to revise their practices before and targeting mistakes they made, to fix the mistakes easily. </a:t>
            </a:r>
          </a:p>
        </p:txBody>
      </p:sp>
    </p:spTree>
    <p:extLst>
      <p:ext uri="{BB962C8B-B14F-4D97-AF65-F5344CB8AC3E}">
        <p14:creationId xmlns:p14="http://schemas.microsoft.com/office/powerpoint/2010/main" val="547620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6F5C1-6110-58B5-378F-C578C752FF0A}"/>
              </a:ext>
            </a:extLst>
          </p:cNvPr>
          <p:cNvSpPr>
            <a:spLocks noGrp="1"/>
          </p:cNvSpPr>
          <p:nvPr>
            <p:ph type="title"/>
          </p:nvPr>
        </p:nvSpPr>
        <p:spPr/>
        <p:txBody>
          <a:bodyPr/>
          <a:lstStyle/>
          <a:p>
            <a:r>
              <a:rPr lang="en-US">
                <a:latin typeface="Century Schoolbook"/>
              </a:rPr>
              <a:t>First draft ( Product design )</a:t>
            </a:r>
          </a:p>
        </p:txBody>
      </p:sp>
      <p:pic>
        <p:nvPicPr>
          <p:cNvPr id="4" name="Picture 3">
            <a:extLst>
              <a:ext uri="{FF2B5EF4-FFF2-40B4-BE49-F238E27FC236}">
                <a16:creationId xmlns:a16="http://schemas.microsoft.com/office/drawing/2014/main" id="{1EE550BC-17BE-B6C8-0DF0-08BADF152382}"/>
              </a:ext>
            </a:extLst>
          </p:cNvPr>
          <p:cNvPicPr>
            <a:picLocks noChangeAspect="1"/>
          </p:cNvPicPr>
          <p:nvPr/>
        </p:nvPicPr>
        <p:blipFill>
          <a:blip r:embed="rId2"/>
          <a:stretch>
            <a:fillRect/>
          </a:stretch>
        </p:blipFill>
        <p:spPr>
          <a:xfrm>
            <a:off x="3164362" y="1859280"/>
            <a:ext cx="5863276" cy="4328160"/>
          </a:xfrm>
          <a:prstGeom prst="rect">
            <a:avLst/>
          </a:prstGeom>
        </p:spPr>
      </p:pic>
    </p:spTree>
    <p:extLst>
      <p:ext uri="{BB962C8B-B14F-4D97-AF65-F5344CB8AC3E}">
        <p14:creationId xmlns:p14="http://schemas.microsoft.com/office/powerpoint/2010/main" val="1365906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7A601B-9A02-CFBD-B0E4-F42F7F65A14E}"/>
              </a:ext>
            </a:extLst>
          </p:cNvPr>
          <p:cNvSpPr>
            <a:spLocks noGrp="1"/>
          </p:cNvSpPr>
          <p:nvPr>
            <p:ph type="title"/>
          </p:nvPr>
        </p:nvSpPr>
        <p:spPr/>
        <p:txBody>
          <a:bodyPr/>
          <a:lstStyle/>
          <a:p>
            <a:r>
              <a:rPr lang="zh-TW" altLang="en-US">
                <a:latin typeface="Century Schoolbook"/>
                <a:ea typeface="新細明體"/>
              </a:rPr>
              <a:t>Technical challenges &amp; </a:t>
            </a:r>
            <a:r>
              <a:rPr lang="zh-TW">
                <a:latin typeface="Century Schoolbook"/>
                <a:ea typeface="新細明體"/>
              </a:rPr>
              <a:t>Solution</a:t>
            </a:r>
            <a:r>
              <a:rPr lang="zh-TW" altLang="en-US">
                <a:latin typeface="Century Schoolbook"/>
                <a:ea typeface="新細明體"/>
              </a:rPr>
              <a:t> </a:t>
            </a:r>
            <a:endParaRPr lang="zh-TW" altLang="en-US">
              <a:latin typeface="Century Schoolbook"/>
            </a:endParaRPr>
          </a:p>
        </p:txBody>
      </p:sp>
      <p:pic>
        <p:nvPicPr>
          <p:cNvPr id="7" name="Content Placeholder 6">
            <a:extLst>
              <a:ext uri="{FF2B5EF4-FFF2-40B4-BE49-F238E27FC236}">
                <a16:creationId xmlns:a16="http://schemas.microsoft.com/office/drawing/2014/main" id="{270D6B61-330A-B1AE-310A-A9F049A4E612}"/>
              </a:ext>
            </a:extLst>
          </p:cNvPr>
          <p:cNvPicPr>
            <a:picLocks noGrp="1" noChangeAspect="1"/>
          </p:cNvPicPr>
          <p:nvPr>
            <p:ph idx="1"/>
          </p:nvPr>
        </p:nvPicPr>
        <p:blipFill>
          <a:blip r:embed="rId2"/>
          <a:stretch>
            <a:fillRect/>
          </a:stretch>
        </p:blipFill>
        <p:spPr>
          <a:xfrm rot="16200000">
            <a:off x="7824534" y="2066735"/>
            <a:ext cx="3130041" cy="4347845"/>
          </a:xfrm>
          <a:prstGeom prst="rect">
            <a:avLst/>
          </a:prstGeom>
        </p:spPr>
      </p:pic>
      <p:pic>
        <p:nvPicPr>
          <p:cNvPr id="8" name="Picture 7" descr="Piano Key Names Explained Quick Tips to Remember Each Note | K&amp;M Music  School">
            <a:extLst>
              <a:ext uri="{FF2B5EF4-FFF2-40B4-BE49-F238E27FC236}">
                <a16:creationId xmlns:a16="http://schemas.microsoft.com/office/drawing/2014/main" id="{55F8EB39-B3F7-A59D-4C49-91989182AFC1}"/>
              </a:ext>
            </a:extLst>
          </p:cNvPr>
          <p:cNvPicPr>
            <a:picLocks noChangeAspect="1"/>
          </p:cNvPicPr>
          <p:nvPr/>
        </p:nvPicPr>
        <p:blipFill>
          <a:blip r:embed="rId3"/>
          <a:srcRect l="9642" t="9116" r="9642" b="6727"/>
          <a:stretch>
            <a:fillRect/>
          </a:stretch>
        </p:blipFill>
        <p:spPr>
          <a:xfrm>
            <a:off x="943945" y="2907892"/>
            <a:ext cx="4212336" cy="2664194"/>
          </a:xfrm>
          <a:prstGeom prst="rect">
            <a:avLst/>
          </a:prstGeom>
        </p:spPr>
      </p:pic>
      <p:sp>
        <p:nvSpPr>
          <p:cNvPr id="10" name="Arrow: Right 9">
            <a:extLst>
              <a:ext uri="{FF2B5EF4-FFF2-40B4-BE49-F238E27FC236}">
                <a16:creationId xmlns:a16="http://schemas.microsoft.com/office/drawing/2014/main" id="{5EBB3DA1-D280-EA72-2787-309C8B006EC9}"/>
              </a:ext>
            </a:extLst>
          </p:cNvPr>
          <p:cNvSpPr/>
          <p:nvPr/>
        </p:nvSpPr>
        <p:spPr>
          <a:xfrm>
            <a:off x="5520442" y="3780969"/>
            <a:ext cx="1212979" cy="9175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7972D82-B00A-AE87-25B5-AC28EF348F68}"/>
              </a:ext>
            </a:extLst>
          </p:cNvPr>
          <p:cNvSpPr txBox="1"/>
          <p:nvPr/>
        </p:nvSpPr>
        <p:spPr>
          <a:xfrm>
            <a:off x="833593" y="1976153"/>
            <a:ext cx="107302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Century Schoolbook"/>
              </a:rPr>
              <a:t>Piano Keyboard (Black/White Keys)</a:t>
            </a:r>
          </a:p>
        </p:txBody>
      </p:sp>
    </p:spTree>
    <p:extLst>
      <p:ext uri="{BB962C8B-B14F-4D97-AF65-F5344CB8AC3E}">
        <p14:creationId xmlns:p14="http://schemas.microsoft.com/office/powerpoint/2010/main" val="131902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1DC3E-22AF-62D7-BD04-2ED86EADD30E}"/>
              </a:ext>
            </a:extLst>
          </p:cNvPr>
          <p:cNvSpPr>
            <a:spLocks noGrp="1"/>
          </p:cNvSpPr>
          <p:nvPr>
            <p:ph type="title"/>
          </p:nvPr>
        </p:nvSpPr>
        <p:spPr/>
        <p:txBody>
          <a:bodyPr/>
          <a:lstStyle/>
          <a:p>
            <a:r>
              <a:rPr lang="en-US" altLang="zh-TW">
                <a:latin typeface="Century Schoolbook"/>
                <a:ea typeface="新細明體"/>
              </a:rPr>
              <a:t>Technical</a:t>
            </a:r>
            <a:r>
              <a:rPr lang="zh-TW" altLang="en-US">
                <a:latin typeface="Century Schoolbook"/>
                <a:ea typeface="新細明體"/>
              </a:rPr>
              <a:t> </a:t>
            </a:r>
            <a:r>
              <a:rPr lang="en-US" altLang="zh-TW">
                <a:latin typeface="Century Schoolbook"/>
                <a:ea typeface="新細明體"/>
              </a:rPr>
              <a:t>challenges</a:t>
            </a:r>
            <a:r>
              <a:rPr lang="zh-TW" altLang="en-US">
                <a:latin typeface="Century Schoolbook"/>
                <a:ea typeface="新細明體"/>
              </a:rPr>
              <a:t> </a:t>
            </a:r>
            <a:r>
              <a:rPr lang="en-US" altLang="zh-TW">
                <a:latin typeface="Century Schoolbook"/>
                <a:ea typeface="新細明體"/>
              </a:rPr>
              <a:t>&amp;</a:t>
            </a:r>
            <a:r>
              <a:rPr lang="zh-TW" altLang="en-US">
                <a:latin typeface="Century Schoolbook"/>
                <a:ea typeface="新細明體"/>
              </a:rPr>
              <a:t> </a:t>
            </a:r>
            <a:r>
              <a:rPr lang="en-US" altLang="zh-TW">
                <a:latin typeface="Century Schoolbook"/>
                <a:ea typeface="新細明體"/>
              </a:rPr>
              <a:t>Solution</a:t>
            </a:r>
            <a:r>
              <a:rPr lang="zh-TW" altLang="en-US">
                <a:latin typeface="Century Schoolbook"/>
                <a:ea typeface="新細明體"/>
              </a:rPr>
              <a:t> </a:t>
            </a:r>
            <a:endParaRPr lang="en-US">
              <a:latin typeface="Century Schoolbook"/>
              <a:ea typeface="新細明體"/>
            </a:endParaRPr>
          </a:p>
        </p:txBody>
      </p:sp>
      <p:pic>
        <p:nvPicPr>
          <p:cNvPr id="4" name="Content Placeholder 3">
            <a:extLst>
              <a:ext uri="{FF2B5EF4-FFF2-40B4-BE49-F238E27FC236}">
                <a16:creationId xmlns:a16="http://schemas.microsoft.com/office/drawing/2014/main" id="{085617D8-52FB-E164-D431-D4BB8F499115}"/>
              </a:ext>
            </a:extLst>
          </p:cNvPr>
          <p:cNvPicPr>
            <a:picLocks noGrp="1" noChangeAspect="1"/>
          </p:cNvPicPr>
          <p:nvPr>
            <p:ph idx="1"/>
          </p:nvPr>
        </p:nvPicPr>
        <p:blipFill>
          <a:blip r:embed="rId2"/>
          <a:stretch>
            <a:fillRect/>
          </a:stretch>
        </p:blipFill>
        <p:spPr>
          <a:xfrm rot="16200000">
            <a:off x="4523469" y="1846263"/>
            <a:ext cx="3205387" cy="4022725"/>
          </a:xfrm>
          <a:prstGeom prst="rect">
            <a:avLst/>
          </a:prstGeom>
        </p:spPr>
      </p:pic>
      <p:sp>
        <p:nvSpPr>
          <p:cNvPr id="6" name="TextBox 5">
            <a:extLst>
              <a:ext uri="{FF2B5EF4-FFF2-40B4-BE49-F238E27FC236}">
                <a16:creationId xmlns:a16="http://schemas.microsoft.com/office/drawing/2014/main" id="{8AA7EAF8-BE64-DC5E-D6CD-3F8CF1B5B567}"/>
              </a:ext>
            </a:extLst>
          </p:cNvPr>
          <p:cNvSpPr txBox="1"/>
          <p:nvPr/>
        </p:nvSpPr>
        <p:spPr>
          <a:xfrm>
            <a:off x="824204" y="2037184"/>
            <a:ext cx="87863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Century Schoolbook"/>
              </a:rPr>
              <a:t>RGB LED</a:t>
            </a:r>
          </a:p>
        </p:txBody>
      </p:sp>
    </p:spTree>
    <p:extLst>
      <p:ext uri="{BB962C8B-B14F-4D97-AF65-F5344CB8AC3E}">
        <p14:creationId xmlns:p14="http://schemas.microsoft.com/office/powerpoint/2010/main" val="224242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00EF7-CA3F-EBED-B15C-99C594772232}"/>
              </a:ext>
            </a:extLst>
          </p:cNvPr>
          <p:cNvSpPr>
            <a:spLocks noGrp="1"/>
          </p:cNvSpPr>
          <p:nvPr>
            <p:ph type="title"/>
          </p:nvPr>
        </p:nvSpPr>
        <p:spPr/>
        <p:txBody>
          <a:bodyPr/>
          <a:lstStyle/>
          <a:p>
            <a:r>
              <a:rPr lang="en-US" altLang="zh-TW">
                <a:latin typeface="Century Schoolbook"/>
                <a:ea typeface="新細明體"/>
              </a:rPr>
              <a:t>Technical</a:t>
            </a:r>
            <a:r>
              <a:rPr lang="zh-TW" altLang="en-US">
                <a:latin typeface="Century Schoolbook"/>
              </a:rPr>
              <a:t> </a:t>
            </a:r>
            <a:r>
              <a:rPr lang="en-US" altLang="zh-TW">
                <a:latin typeface="Century Schoolbook"/>
                <a:ea typeface="新細明體"/>
              </a:rPr>
              <a:t>challenges</a:t>
            </a:r>
            <a:r>
              <a:rPr lang="zh-TW" altLang="en-US">
                <a:latin typeface="Century Schoolbook"/>
              </a:rPr>
              <a:t> </a:t>
            </a:r>
            <a:r>
              <a:rPr lang="en-US" altLang="zh-TW">
                <a:latin typeface="Century Schoolbook"/>
                <a:ea typeface="新細明體"/>
              </a:rPr>
              <a:t>&amp;</a:t>
            </a:r>
            <a:r>
              <a:rPr lang="zh-TW" altLang="en-US">
                <a:latin typeface="Century Schoolbook"/>
              </a:rPr>
              <a:t> </a:t>
            </a:r>
            <a:r>
              <a:rPr lang="en-US" altLang="zh-TW">
                <a:latin typeface="Century Schoolbook"/>
                <a:ea typeface="新細明體"/>
              </a:rPr>
              <a:t>Solution</a:t>
            </a:r>
            <a:r>
              <a:rPr lang="zh-TW" altLang="en-US">
                <a:latin typeface="Century Schoolbook"/>
              </a:rPr>
              <a:t> </a:t>
            </a:r>
            <a:endParaRPr lang="en-US">
              <a:latin typeface="Century Schoolbook"/>
            </a:endParaRPr>
          </a:p>
        </p:txBody>
      </p:sp>
      <p:pic>
        <p:nvPicPr>
          <p:cNvPr id="4" name="Content Placeholder 3">
            <a:extLst>
              <a:ext uri="{FF2B5EF4-FFF2-40B4-BE49-F238E27FC236}">
                <a16:creationId xmlns:a16="http://schemas.microsoft.com/office/drawing/2014/main" id="{FC1EE547-51F7-854F-585F-AF26306937FA}"/>
              </a:ext>
            </a:extLst>
          </p:cNvPr>
          <p:cNvPicPr>
            <a:picLocks noGrp="1" noChangeAspect="1"/>
          </p:cNvPicPr>
          <p:nvPr>
            <p:ph idx="1"/>
          </p:nvPr>
        </p:nvPicPr>
        <p:blipFill>
          <a:blip r:embed="rId2"/>
          <a:stretch>
            <a:fillRect/>
          </a:stretch>
        </p:blipFill>
        <p:spPr>
          <a:xfrm>
            <a:off x="7139505" y="2752211"/>
            <a:ext cx="3431751" cy="3357070"/>
          </a:xfrm>
          <a:prstGeom prst="rect">
            <a:avLst/>
          </a:prstGeom>
        </p:spPr>
      </p:pic>
      <p:sp>
        <p:nvSpPr>
          <p:cNvPr id="5" name="TextBox 4">
            <a:extLst>
              <a:ext uri="{FF2B5EF4-FFF2-40B4-BE49-F238E27FC236}">
                <a16:creationId xmlns:a16="http://schemas.microsoft.com/office/drawing/2014/main" id="{87838A9F-47A7-6599-B57B-ECB73A6C84D7}"/>
              </a:ext>
            </a:extLst>
          </p:cNvPr>
          <p:cNvSpPr txBox="1"/>
          <p:nvPr/>
        </p:nvSpPr>
        <p:spPr>
          <a:xfrm>
            <a:off x="771524" y="1925340"/>
            <a:ext cx="1071465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alibri"/>
              <a:buChar char="-"/>
            </a:pPr>
            <a:r>
              <a:rPr lang="en-US" sz="2400">
                <a:latin typeface="Century Schoolbook"/>
              </a:rPr>
              <a:t>ESP 32 does not have enough Pins.</a:t>
            </a:r>
            <a:endParaRPr lang="en-US">
              <a:ea typeface="Calibri" panose="020F0502020204030204"/>
              <a:cs typeface="Calibri" panose="020F0502020204030204"/>
            </a:endParaRPr>
          </a:p>
          <a:p>
            <a:pPr marL="342900" indent="-342900">
              <a:buFont typeface="Calibri"/>
              <a:buChar char="-"/>
            </a:pPr>
            <a:r>
              <a:rPr lang="en-US" sz="2400">
                <a:latin typeface="Century Schoolbook"/>
              </a:rPr>
              <a:t>The IDE is not supplying enough power to drive the ESP32.</a:t>
            </a:r>
            <a:endParaRPr lang="en-US" sz="2800">
              <a:latin typeface="Century Schoolbook"/>
              <a:ea typeface="+mn-lt"/>
              <a:cs typeface="+mn-lt"/>
            </a:endParaRPr>
          </a:p>
        </p:txBody>
      </p:sp>
    </p:spTree>
    <p:extLst>
      <p:ext uri="{BB962C8B-B14F-4D97-AF65-F5344CB8AC3E}">
        <p14:creationId xmlns:p14="http://schemas.microsoft.com/office/powerpoint/2010/main" val="1235682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71C4B-6E85-DE9E-CAC2-E9DF1CF57D23}"/>
              </a:ext>
            </a:extLst>
          </p:cNvPr>
          <p:cNvSpPr>
            <a:spLocks noGrp="1"/>
          </p:cNvSpPr>
          <p:nvPr>
            <p:ph type="title"/>
          </p:nvPr>
        </p:nvSpPr>
        <p:spPr/>
        <p:txBody>
          <a:bodyPr/>
          <a:lstStyle/>
          <a:p>
            <a:r>
              <a:rPr lang="zh-TW">
                <a:latin typeface="Century Schoolbook"/>
                <a:ea typeface="新細明體"/>
              </a:rPr>
              <a:t>Technical challenges &amp; Solution </a:t>
            </a:r>
            <a:endParaRPr lang="en-US">
              <a:latin typeface="Century Schoolbook"/>
            </a:endParaRPr>
          </a:p>
        </p:txBody>
      </p:sp>
      <p:pic>
        <p:nvPicPr>
          <p:cNvPr id="4" name="Content Placeholder 3" descr="不同藍牙版本的比較: 您應該了解的完整指南| 地雷">
            <a:extLst>
              <a:ext uri="{FF2B5EF4-FFF2-40B4-BE49-F238E27FC236}">
                <a16:creationId xmlns:a16="http://schemas.microsoft.com/office/drawing/2014/main" id="{CB3309DB-36DB-9D67-BD3B-F1319673C8A1}"/>
              </a:ext>
            </a:extLst>
          </p:cNvPr>
          <p:cNvPicPr>
            <a:picLocks noGrp="1" noChangeAspect="1"/>
          </p:cNvPicPr>
          <p:nvPr>
            <p:ph idx="1"/>
          </p:nvPr>
        </p:nvPicPr>
        <p:blipFill>
          <a:blip r:embed="rId2"/>
          <a:stretch>
            <a:fillRect/>
          </a:stretch>
        </p:blipFill>
        <p:spPr>
          <a:xfrm>
            <a:off x="2095500" y="2013271"/>
            <a:ext cx="8001000" cy="4143375"/>
          </a:xfrm>
          <a:prstGeom prst="rect">
            <a:avLst/>
          </a:prstGeom>
        </p:spPr>
      </p:pic>
    </p:spTree>
    <p:extLst>
      <p:ext uri="{BB962C8B-B14F-4D97-AF65-F5344CB8AC3E}">
        <p14:creationId xmlns:p14="http://schemas.microsoft.com/office/powerpoint/2010/main" val="3219432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239D88-14AD-53F1-4007-FE746489350E}"/>
              </a:ext>
            </a:extLst>
          </p:cNvPr>
          <p:cNvSpPr>
            <a:spLocks noGrp="1"/>
          </p:cNvSpPr>
          <p:nvPr>
            <p:ph type="title"/>
          </p:nvPr>
        </p:nvSpPr>
        <p:spPr/>
        <p:txBody>
          <a:bodyPr/>
          <a:lstStyle/>
          <a:p>
            <a:r>
              <a:rPr lang="zh-TW" altLang="en-US">
                <a:latin typeface="Century Schoolbook"/>
                <a:ea typeface="新細明體"/>
              </a:rPr>
              <a:t>Future work ( UI Design )</a:t>
            </a:r>
            <a:endParaRPr lang="zh-TW" altLang="en-US">
              <a:latin typeface="Century Schoolbook"/>
            </a:endParaRPr>
          </a:p>
        </p:txBody>
      </p:sp>
      <p:pic>
        <p:nvPicPr>
          <p:cNvPr id="4" name="Picture 3">
            <a:extLst>
              <a:ext uri="{FF2B5EF4-FFF2-40B4-BE49-F238E27FC236}">
                <a16:creationId xmlns:a16="http://schemas.microsoft.com/office/drawing/2014/main" id="{54D4B9AB-E2E4-1C8E-EE14-07B4C29361E3}"/>
              </a:ext>
            </a:extLst>
          </p:cNvPr>
          <p:cNvPicPr>
            <a:picLocks noChangeAspect="1"/>
          </p:cNvPicPr>
          <p:nvPr/>
        </p:nvPicPr>
        <p:blipFill>
          <a:blip r:embed="rId2"/>
          <a:stretch>
            <a:fillRect/>
          </a:stretch>
        </p:blipFill>
        <p:spPr>
          <a:xfrm>
            <a:off x="5075371" y="1883664"/>
            <a:ext cx="2047355" cy="4212336"/>
          </a:xfrm>
          <a:prstGeom prst="rect">
            <a:avLst/>
          </a:prstGeom>
        </p:spPr>
      </p:pic>
      <p:pic>
        <p:nvPicPr>
          <p:cNvPr id="5" name="Picture 4">
            <a:extLst>
              <a:ext uri="{FF2B5EF4-FFF2-40B4-BE49-F238E27FC236}">
                <a16:creationId xmlns:a16="http://schemas.microsoft.com/office/drawing/2014/main" id="{E41723F4-CFD7-EF38-BC59-05EF7F265DA2}"/>
              </a:ext>
            </a:extLst>
          </p:cNvPr>
          <p:cNvPicPr>
            <a:picLocks noChangeAspect="1"/>
          </p:cNvPicPr>
          <p:nvPr/>
        </p:nvPicPr>
        <p:blipFill>
          <a:blip r:embed="rId3"/>
          <a:stretch>
            <a:fillRect/>
          </a:stretch>
        </p:blipFill>
        <p:spPr>
          <a:xfrm>
            <a:off x="2062383" y="1883664"/>
            <a:ext cx="2385762" cy="4212336"/>
          </a:xfrm>
          <a:prstGeom prst="rect">
            <a:avLst/>
          </a:prstGeom>
        </p:spPr>
      </p:pic>
      <p:pic>
        <p:nvPicPr>
          <p:cNvPr id="6" name="Picture 5">
            <a:extLst>
              <a:ext uri="{FF2B5EF4-FFF2-40B4-BE49-F238E27FC236}">
                <a16:creationId xmlns:a16="http://schemas.microsoft.com/office/drawing/2014/main" id="{7908171B-FD32-A5CA-6E09-6027F6A3D2D7}"/>
              </a:ext>
            </a:extLst>
          </p:cNvPr>
          <p:cNvPicPr>
            <a:picLocks noChangeAspect="1"/>
          </p:cNvPicPr>
          <p:nvPr/>
        </p:nvPicPr>
        <p:blipFill>
          <a:blip r:embed="rId4"/>
          <a:stretch>
            <a:fillRect/>
          </a:stretch>
        </p:blipFill>
        <p:spPr>
          <a:xfrm>
            <a:off x="7739877" y="1883664"/>
            <a:ext cx="2418102" cy="4212336"/>
          </a:xfrm>
          <a:prstGeom prst="rect">
            <a:avLst/>
          </a:prstGeom>
        </p:spPr>
      </p:pic>
    </p:spTree>
    <p:extLst>
      <p:ext uri="{BB962C8B-B14F-4D97-AF65-F5344CB8AC3E}">
        <p14:creationId xmlns:p14="http://schemas.microsoft.com/office/powerpoint/2010/main" val="2335166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3D755E-D134-DC25-8AB7-65DEF3CA7424}"/>
              </a:ext>
            </a:extLst>
          </p:cNvPr>
          <p:cNvPicPr>
            <a:picLocks noChangeAspect="1"/>
          </p:cNvPicPr>
          <p:nvPr/>
        </p:nvPicPr>
        <p:blipFill>
          <a:blip r:embed="rId2"/>
          <a:stretch>
            <a:fillRect/>
          </a:stretch>
        </p:blipFill>
        <p:spPr>
          <a:xfrm>
            <a:off x="4701532" y="435428"/>
            <a:ext cx="2788933" cy="5787573"/>
          </a:xfrm>
          <a:prstGeom prst="rect">
            <a:avLst/>
          </a:prstGeom>
        </p:spPr>
      </p:pic>
      <p:pic>
        <p:nvPicPr>
          <p:cNvPr id="5" name="Picture 4">
            <a:extLst>
              <a:ext uri="{FF2B5EF4-FFF2-40B4-BE49-F238E27FC236}">
                <a16:creationId xmlns:a16="http://schemas.microsoft.com/office/drawing/2014/main" id="{11C4E6A4-5776-7EE2-5D24-6095776F8810}"/>
              </a:ext>
            </a:extLst>
          </p:cNvPr>
          <p:cNvPicPr>
            <a:picLocks noChangeAspect="1"/>
          </p:cNvPicPr>
          <p:nvPr/>
        </p:nvPicPr>
        <p:blipFill>
          <a:blip r:embed="rId3"/>
          <a:stretch>
            <a:fillRect/>
          </a:stretch>
        </p:blipFill>
        <p:spPr>
          <a:xfrm>
            <a:off x="1071663" y="441478"/>
            <a:ext cx="2767343" cy="5781525"/>
          </a:xfrm>
          <a:prstGeom prst="rect">
            <a:avLst/>
          </a:prstGeom>
        </p:spPr>
      </p:pic>
      <p:pic>
        <p:nvPicPr>
          <p:cNvPr id="7" name="Picture 6">
            <a:extLst>
              <a:ext uri="{FF2B5EF4-FFF2-40B4-BE49-F238E27FC236}">
                <a16:creationId xmlns:a16="http://schemas.microsoft.com/office/drawing/2014/main" id="{0575791E-9581-C5D7-2ACC-3F45CBE7CF41}"/>
              </a:ext>
            </a:extLst>
          </p:cNvPr>
          <p:cNvPicPr>
            <a:picLocks noChangeAspect="1"/>
          </p:cNvPicPr>
          <p:nvPr/>
        </p:nvPicPr>
        <p:blipFill>
          <a:blip r:embed="rId4"/>
          <a:stretch>
            <a:fillRect/>
          </a:stretch>
        </p:blipFill>
        <p:spPr>
          <a:xfrm>
            <a:off x="8413074" y="441476"/>
            <a:ext cx="2701616" cy="5787572"/>
          </a:xfrm>
          <a:prstGeom prst="rect">
            <a:avLst/>
          </a:prstGeom>
        </p:spPr>
      </p:pic>
    </p:spTree>
    <p:extLst>
      <p:ext uri="{BB962C8B-B14F-4D97-AF65-F5344CB8AC3E}">
        <p14:creationId xmlns:p14="http://schemas.microsoft.com/office/powerpoint/2010/main" val="1299692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958A13-4FF4-1556-A5D1-5A8F3BA51360}"/>
              </a:ext>
            </a:extLst>
          </p:cNvPr>
          <p:cNvPicPr>
            <a:picLocks noChangeAspect="1"/>
          </p:cNvPicPr>
          <p:nvPr/>
        </p:nvPicPr>
        <p:blipFill>
          <a:blip r:embed="rId2"/>
          <a:stretch>
            <a:fillRect/>
          </a:stretch>
        </p:blipFill>
        <p:spPr>
          <a:xfrm>
            <a:off x="317664" y="393096"/>
            <a:ext cx="2733194" cy="5715000"/>
          </a:xfrm>
          <a:prstGeom prst="rect">
            <a:avLst/>
          </a:prstGeom>
        </p:spPr>
      </p:pic>
      <p:pic>
        <p:nvPicPr>
          <p:cNvPr id="4" name="Picture 3">
            <a:extLst>
              <a:ext uri="{FF2B5EF4-FFF2-40B4-BE49-F238E27FC236}">
                <a16:creationId xmlns:a16="http://schemas.microsoft.com/office/drawing/2014/main" id="{19EABD5A-DD38-ADB2-CB0D-5890A36F282B}"/>
              </a:ext>
            </a:extLst>
          </p:cNvPr>
          <p:cNvPicPr>
            <a:picLocks noChangeAspect="1"/>
          </p:cNvPicPr>
          <p:nvPr/>
        </p:nvPicPr>
        <p:blipFill>
          <a:blip r:embed="rId3"/>
          <a:stretch>
            <a:fillRect/>
          </a:stretch>
        </p:blipFill>
        <p:spPr>
          <a:xfrm>
            <a:off x="3135004" y="380999"/>
            <a:ext cx="2728850" cy="5708955"/>
          </a:xfrm>
          <a:prstGeom prst="rect">
            <a:avLst/>
          </a:prstGeom>
        </p:spPr>
      </p:pic>
      <p:pic>
        <p:nvPicPr>
          <p:cNvPr id="5" name="Picture 4">
            <a:extLst>
              <a:ext uri="{FF2B5EF4-FFF2-40B4-BE49-F238E27FC236}">
                <a16:creationId xmlns:a16="http://schemas.microsoft.com/office/drawing/2014/main" id="{0D00673D-F3C6-F606-8E0D-C687FBA98797}"/>
              </a:ext>
            </a:extLst>
          </p:cNvPr>
          <p:cNvPicPr>
            <a:picLocks noChangeAspect="1"/>
          </p:cNvPicPr>
          <p:nvPr/>
        </p:nvPicPr>
        <p:blipFill>
          <a:blip r:embed="rId4"/>
          <a:stretch>
            <a:fillRect/>
          </a:stretch>
        </p:blipFill>
        <p:spPr>
          <a:xfrm>
            <a:off x="8783312" y="423332"/>
            <a:ext cx="3267424" cy="5684763"/>
          </a:xfrm>
          <a:prstGeom prst="rect">
            <a:avLst/>
          </a:prstGeom>
        </p:spPr>
      </p:pic>
      <p:pic>
        <p:nvPicPr>
          <p:cNvPr id="6" name="Picture 5">
            <a:extLst>
              <a:ext uri="{FF2B5EF4-FFF2-40B4-BE49-F238E27FC236}">
                <a16:creationId xmlns:a16="http://schemas.microsoft.com/office/drawing/2014/main" id="{F09B2A6C-0BD6-9445-505C-D710F69FECFA}"/>
              </a:ext>
            </a:extLst>
          </p:cNvPr>
          <p:cNvPicPr>
            <a:picLocks noChangeAspect="1"/>
          </p:cNvPicPr>
          <p:nvPr/>
        </p:nvPicPr>
        <p:blipFill>
          <a:blip r:embed="rId5"/>
          <a:stretch>
            <a:fillRect/>
          </a:stretch>
        </p:blipFill>
        <p:spPr>
          <a:xfrm>
            <a:off x="5960272" y="374953"/>
            <a:ext cx="2720740" cy="5715001"/>
          </a:xfrm>
          <a:prstGeom prst="rect">
            <a:avLst/>
          </a:prstGeom>
        </p:spPr>
      </p:pic>
    </p:spTree>
    <p:extLst>
      <p:ext uri="{BB962C8B-B14F-4D97-AF65-F5344CB8AC3E}">
        <p14:creationId xmlns:p14="http://schemas.microsoft.com/office/powerpoint/2010/main" val="984108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AD4015-66DA-0399-048B-9777DE246219}"/>
              </a:ext>
            </a:extLst>
          </p:cNvPr>
          <p:cNvSpPr>
            <a:spLocks noGrp="1"/>
          </p:cNvSpPr>
          <p:nvPr>
            <p:ph type="title"/>
          </p:nvPr>
        </p:nvSpPr>
        <p:spPr/>
        <p:txBody>
          <a:bodyPr/>
          <a:lstStyle/>
          <a:p>
            <a:r>
              <a:rPr lang="zh-TW" altLang="en-US">
                <a:latin typeface="Century Schoolbook"/>
                <a:ea typeface="新細明體"/>
              </a:rPr>
              <a:t>Demo</a:t>
            </a:r>
            <a:endParaRPr lang="en-US" altLang="zh-TW"/>
          </a:p>
        </p:txBody>
      </p:sp>
      <p:sp>
        <p:nvSpPr>
          <p:cNvPr id="3" name="內容版面配置區 2">
            <a:extLst>
              <a:ext uri="{FF2B5EF4-FFF2-40B4-BE49-F238E27FC236}">
                <a16:creationId xmlns:a16="http://schemas.microsoft.com/office/drawing/2014/main" id="{721A9DAE-453E-645B-124D-918947986CDF}"/>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983807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6519-676F-0A53-93D8-A04EC9CEE6D7}"/>
              </a:ext>
            </a:extLst>
          </p:cNvPr>
          <p:cNvSpPr>
            <a:spLocks noGrp="1"/>
          </p:cNvSpPr>
          <p:nvPr>
            <p:ph type="ctrTitle"/>
          </p:nvPr>
        </p:nvSpPr>
        <p:spPr/>
        <p:txBody>
          <a:bodyPr/>
          <a:lstStyle/>
          <a:p>
            <a:r>
              <a:rPr lang="en-US">
                <a:ea typeface="Calibri Light"/>
                <a:cs typeface="Calibri Light"/>
              </a:rPr>
              <a:t>Q＆A</a:t>
            </a:r>
            <a:endParaRPr lang="en-US"/>
          </a:p>
        </p:txBody>
      </p:sp>
      <p:sp>
        <p:nvSpPr>
          <p:cNvPr id="3" name="Content Placeholder 2">
            <a:extLst>
              <a:ext uri="{FF2B5EF4-FFF2-40B4-BE49-F238E27FC236}">
                <a16:creationId xmlns:a16="http://schemas.microsoft.com/office/drawing/2014/main" id="{B5A3EA98-7B0E-FABB-044F-E8B9FFA906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8399754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寬螢幕</PresentationFormat>
  <Slides>15</Slides>
  <Notes>0</Notes>
  <HiddenSlides>0</HiddenSlide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Retrospect</vt:lpstr>
      <vt:lpstr>Smart Piano</vt:lpstr>
      <vt:lpstr>Background </vt:lpstr>
      <vt:lpstr>The real-world question to solve </vt:lpstr>
      <vt:lpstr>Research</vt:lpstr>
      <vt:lpstr>Solution of real-world question</vt:lpstr>
      <vt:lpstr>First draft ( Product design )</vt:lpstr>
      <vt:lpstr>Technical challenges &amp; Solution </vt:lpstr>
      <vt:lpstr>Technical challenges &amp; Solution </vt:lpstr>
      <vt:lpstr>Technical challenges &amp; Solution </vt:lpstr>
      <vt:lpstr>Technical challenges &amp; Solution </vt:lpstr>
      <vt:lpstr>Future work ( UI Design )</vt:lpstr>
      <vt:lpstr>PowerPoint 簡報</vt:lpstr>
      <vt:lpstr>PowerPoint 簡報</vt:lpstr>
      <vt:lpstr>Demo</vt:lpstr>
      <vt:lpstr>Q＆A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2012-07-30T21:28:29Z</dcterms:created>
  <dcterms:modified xsi:type="dcterms:W3CDTF">2025-12-10T21:03:18Z</dcterms:modified>
</cp:coreProperties>
</file>